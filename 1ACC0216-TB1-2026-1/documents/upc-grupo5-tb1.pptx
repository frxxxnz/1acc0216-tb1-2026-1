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Lato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0B9F68-E2AA-4A56-835E-A0B6350BD3FB}">
  <a:tblStyle styleId="{290B9F68-E2AA-4A56-835E-A0B6350BD3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024d1f9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2024d1f98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2024d1f9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2024d1f98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024d1f9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2024d1f98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2024d1f98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2024d1f98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2024d1f98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2024d1f98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2024d1f98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e2024d1f98_1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2024d1f9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2024d1f98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86300"/>
            <a:ext cx="11049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144250" y="285750"/>
            <a:ext cx="4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762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8102E"/>
                </a:solidFill>
                <a:latin typeface="Lato"/>
                <a:ea typeface="Lato"/>
                <a:cs typeface="Lato"/>
                <a:sym typeface="Lato"/>
              </a:rPr>
              <a:t>CIENCIAS DE LA COMPUTACIÓN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44780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1ACC0216 – FUNDAMENTOS DE </a:t>
            </a:r>
            <a:r>
              <a:rPr b="1" i="0" lang="en-US" sz="52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SCIENCE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5275" y="36576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Trabajo Basado en Desempeño 1 (TB1)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57250" y="51625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Integrantes: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Francesco Meza Dagnino | Alejandro García Hernández | Ian Landauro La Rosa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565785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Ciclo: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2026-10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1. CASO DE ANÁLISIS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9240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1.1 Origen de los Datos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3907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"Hotel Booking Demand" (2019) de Nuno Antonio, Ana Almeida y Luis Nunes.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1908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Registros reales de 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Resort Hotel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(Algarve) y 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City Hotel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(Lisboa) entre 2015 y 2017.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1719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1.2 Credibilidad y Recolección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46386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Alta fidelidad: Datos extraídos directamente de sistemas PMS (Property Management Systems).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4387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8102E"/>
                </a:solidFill>
                <a:latin typeface="Lato"/>
                <a:ea typeface="Lato"/>
                <a:cs typeface="Lato"/>
                <a:sym typeface="Lato"/>
              </a:rPr>
              <a:t>Nota: Dataset modificado con ruido para fines académicos.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400" y="1388163"/>
            <a:ext cx="4824625" cy="48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5242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76500"/>
            <a:ext cx="35242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476500"/>
            <a:ext cx="35242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2.3 CASOS DE USO APLICABLES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944225" y="6410325"/>
            <a:ext cx="676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Sección 2.3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75272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9625" y="318135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Predicción de Cancelaciones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40386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Identificar reservas con alto riesgo para optimizar políticas de prepago.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27527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572000" y="318135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Optimización de Inventario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572000" y="40386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Planificación de personal y suministros basada en demanda estacional.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4375" y="275272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334375" y="3181350"/>
            <a:ext cx="3200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Segmentación de Clientes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34375" y="40386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Diferenciar perfiles (familias vs negocios) para ofertas personalizadas.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2. CONJUNTO DE DATOS (DATA SET)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049000" y="6410325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Sección 2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3336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Descripción de las variables principales (hotel_bookings.csv):</a:t>
            </a:r>
            <a:endParaRPr/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571500" y="2924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{290B9F68-E2AA-4A56-835E-A0B6350BD3FB}</a:tableStyleId>
              </a:tblPr>
              <a:tblGrid>
                <a:gridCol w="1543050"/>
                <a:gridCol w="752475"/>
                <a:gridCol w="1590675"/>
                <a:gridCol w="1743075"/>
              </a:tblGrid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 (R)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72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hotel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 Nominal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Tipo: Resort o City Hotel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is_canceled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 Binaria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Cancelada (1) o No (0)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lead_time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Discreta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Días previos a la llegada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Continua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Tarifa diaria promedio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arrival_date_month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 Ordinal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 de llegada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stays_in_week_nights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Discreta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Noches de lun a vie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6"/>
          <p:cNvSpPr/>
          <p:nvPr/>
        </p:nvSpPr>
        <p:spPr>
          <a:xfrm>
            <a:off x="590550" y="3733800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152650" y="3733800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924175" y="3733800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533900" y="3733800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90550" y="4124325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152650" y="4124325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924175" y="4124325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533900" y="4124325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90550" y="4514850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152650" y="4514850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924175" y="4514850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533900" y="4514850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90550" y="4905375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152650" y="4905375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924175" y="4905375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533900" y="4905375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90550" y="5295900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152650" y="5295900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924175" y="5295900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533900" y="5295900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90550" y="5686425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152650" y="5686425"/>
            <a:ext cx="752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924175" y="5686425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533900" y="5686425"/>
            <a:ext cx="1743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86062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2712"/>
            <a:ext cx="5334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33912"/>
            <a:ext cx="533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3.1 CARGAR Y 3.2 INSPECCIONAR DATOS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215741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Carga del dataset asegurando integridad de tipos: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413861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Inspección inicial: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477000" y="31289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119,390 observaciones iniciales.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77000" y="36242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32 variables detectadas.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77000" y="41195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Alta presencia de registros duplicados que requieren limpieza.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1908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686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41814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3.3 AJUSTES Y TRANSFORMACIONES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0944225" y="6410325"/>
            <a:ext cx="676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Sección 3.3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332898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Eliminación: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Registros duplicados.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377666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Casteo: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Conversión de caracteres a factores.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422433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Formato: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Ajuste de columnas de fecha.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525" y="2722300"/>
            <a:ext cx="6802891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3.4 PRE-PROCESAR DATOS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1747312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3.4.1 Datos Faltantes (NAs)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2214025"/>
            <a:ext cx="447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Imputación de la mediana para evitar pérdida de filas valiosas: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4004634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3.4.2 Outliers en ADR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4584437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Tratamiento vía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Winsorización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percentil 95 para mitigar impacto de valores extremos.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 b="-27453" l="0" r="11661" t="0"/>
          <a:stretch/>
        </p:blipFill>
        <p:spPr>
          <a:xfrm>
            <a:off x="571500" y="3066108"/>
            <a:ext cx="50656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" y="5410925"/>
            <a:ext cx="57340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4775" y="1897025"/>
            <a:ext cx="6229350" cy="339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286500" y="20574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Reservas por Tipo de Hotel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286500" y="2524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"City Hotel" concentra el mayor volumen, indicando una rotación superior en entornos urbanos.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286500" y="45339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Tendencia Temporal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286500" y="50006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Crecimiento marcado entre 2015 y 2016 con picos estacionales.</a:t>
            </a:r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75" y="2057400"/>
            <a:ext cx="524827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5600" y="3429733"/>
            <a:ext cx="6012425" cy="5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8288000" y="2402800"/>
            <a:ext cx="310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Demanda de reservas en el tiempo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958300" y="3145375"/>
            <a:ext cx="37632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Existe un crecimiento constante de reservas desde 2015 a 2016, con picos marcados que sugieren una recuperación o expansión del mercado.</a:t>
            </a:r>
            <a:endParaRPr sz="1500"/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50" y="5623750"/>
            <a:ext cx="11401501" cy="7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700" y="1417525"/>
            <a:ext cx="7443903" cy="383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8288000" y="2402800"/>
            <a:ext cx="310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Temporadas de reserva (Meses)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958300" y="3145375"/>
            <a:ext cx="37632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meses de julio y agosto presentan la mayor afluencia de huéspedes, coincidiendo con la temporada de vacaciones de verano en Europa.</a:t>
            </a:r>
            <a:endParaRPr sz="1500"/>
          </a:p>
        </p:txBody>
      </p:sp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4300" y="5478675"/>
            <a:ext cx="9522824" cy="11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425" y="1585975"/>
            <a:ext cx="7286251" cy="381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8288000" y="2402800"/>
            <a:ext cx="310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Reservas por noches de fin de semana y semana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7958300" y="3145375"/>
            <a:ext cx="37632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mayoría de las estancias son cortas (1-3 noches), predominando las pernoctaciones en días de semana sobre los fines de semana.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7" name="Google Shape;2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5518225"/>
            <a:ext cx="10670700" cy="11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300" y="1597850"/>
            <a:ext cx="6897325" cy="36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8288000" y="2402800"/>
            <a:ext cx="310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Reservas con niños y/o bebés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7958300" y="3145375"/>
            <a:ext cx="37632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gran mayoría de las reservas son solo de adultos. Las familias representan un segmento pequeño pero importante que suele preferir el Resort Hotel.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8" name="Google Shape;2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450" y="5494450"/>
            <a:ext cx="10202750" cy="11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881" y="1816738"/>
            <a:ext cx="6142418" cy="337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8288000" y="2402800"/>
            <a:ext cx="310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Espacios de estacionamiento requeridos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7958300" y="3145375"/>
            <a:ext cx="37632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porcentaje mínimo de huéspedes solicita estacionamiento, lo que sugiere que la mayoría utiliza transporte público o servicios de traslado.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9" name="Google Shape;2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875" y="5578500"/>
            <a:ext cx="10629850" cy="9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550038"/>
            <a:ext cx="6875132" cy="37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8288000" y="2402800"/>
            <a:ext cx="3103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Cancelaciones por tipo de hotel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7958300" y="3145375"/>
            <a:ext cx="37632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City Hotel no solo tiene más reservas, sino también una tasa de cancelación significativamente más alta en comparación con el Resort Hotel.</a:t>
            </a:r>
            <a:endParaRPr sz="16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0" name="Google Shape;2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5563450"/>
            <a:ext cx="10659450" cy="9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900" y="1706525"/>
            <a:ext cx="6605322" cy="359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3.5 VISUALIZACIÓN DE DATOS</a:t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571500" y="1515000"/>
            <a:ext cx="27747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Pregunta del equipo: ¿Cómo influye el 'lead_time' en las cancelaciones?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2439950"/>
            <a:ext cx="39051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Justificación: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Queremos saber si las personas que reservan con mucha anticipación tienen más probabilidades de arrepentirse.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reservas canceladas muestran un lead_time mediano mucho más alto, lo que confirma que a mayor antelación, mayor riesgo de cancelación.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5533300"/>
            <a:ext cx="11154100" cy="8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000" y="1435250"/>
            <a:ext cx="6755781" cy="36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35242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705100"/>
            <a:ext cx="352425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705100"/>
            <a:ext cx="352425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3.6 JUSTIFICACIÓN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809625" y="2981325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Gráficos de Barras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809625" y="35052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variables categóricas (hotel, mes). Facilita comparación de frecuencias directas.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4572000" y="2981325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Diagramas de Caja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4572000" y="35052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Ideales para comparar distribución numérica (Lead Time) frente a categorías (Cancelación).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8334375" y="2981325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Barras Apiladas 100%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8334375" y="350520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comparar proporciones relativas de cancelaciones independientemente del volumen total.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4. CONCLUSIONES</a:t>
            </a:r>
            <a:endParaRPr/>
          </a:p>
        </p:txBody>
      </p:sp>
      <p:sp>
        <p:nvSpPr>
          <p:cNvPr id="315" name="Google Shape;315;p2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571500" y="243840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4.1 Conclusiones del Análisis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571500" y="445770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4.2 Patrones y Tendencias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571500" y="49244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Existe una correlación positiva entre el tiempo de reserva (Lead Time) y la probabilidad de cancelación.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838200" y="2905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952500" y="29051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City Hotel domina en volumen, pero posee una inestabilidad de ingresos mayor debido a sus altas tasas de cancelación.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838200" y="3514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952500" y="35147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Estacionalidad: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Los meses de Julio y Agosto dictan el pico de demanda (verano europeo), permitiendo alzas en el ADR.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838200" y="3819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952500" y="38195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Perfil: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mayoría son adultos sin niños. Las familias prefieren el Resort Hotel para estancias largas.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6475"/>
            <a:ext cx="35242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76475"/>
            <a:ext cx="35242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276475"/>
            <a:ext cx="35242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4.3 RECOMENDACIONES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71500" y="50863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ENLACE A REPOSITORIO: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0000EE"/>
                </a:solidFill>
                <a:latin typeface="Lato"/>
                <a:ea typeface="Lato"/>
                <a:cs typeface="Lato"/>
                <a:sym typeface="Lato"/>
              </a:rPr>
              <a:t>github.com/fundamentos-ds/TB1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809625" y="2552700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Políticas de Pago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809625" y="30765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 tarifas "No Reembolsables" para reservas con Lead Time superior a 120 días.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4572000" y="2552700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Dynamic Pricing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4572000" y="30765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Estrategias agresivas de precios en Agosto para maximizar márgenes de beneficio.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8334375" y="2552700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8102E"/>
                </a:solidFill>
                <a:latin typeface="Poppins"/>
                <a:ea typeface="Poppins"/>
                <a:cs typeface="Poppins"/>
                <a:sym typeface="Poppins"/>
              </a:rPr>
              <a:t>Fidelización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8334375" y="307657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Crear programas de lealtad dado que el número de huéspedes recurrentes es críticamente bajo.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